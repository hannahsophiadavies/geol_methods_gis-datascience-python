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257" r:id="rId4"/>
    <p:sldId id="270" r:id="rId5"/>
    <p:sldId id="271" r:id="rId6"/>
    <p:sldId id="272" r:id="rId7"/>
    <p:sldId id="258" r:id="rId8"/>
    <p:sldId id="262" r:id="rId9"/>
    <p:sldId id="260" r:id="rId10"/>
    <p:sldId id="259" r:id="rId11"/>
    <p:sldId id="264" r:id="rId12"/>
    <p:sldId id="265" r:id="rId13"/>
    <p:sldId id="266" r:id="rId14"/>
    <p:sldId id="268" r:id="rId15"/>
    <p:sldId id="267" r:id="rId16"/>
    <p:sldId id="269" r:id="rId17"/>
    <p:sldId id="275" r:id="rId18"/>
    <p:sldId id="274" r:id="rId19"/>
    <p:sldId id="273" r:id="rId20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1"/>
    <p:restoredTop sz="94705"/>
  </p:normalViewPr>
  <p:slideViewPr>
    <p:cSldViewPr snapToGrid="0">
      <p:cViewPr varScale="1">
        <p:scale>
          <a:sx n="118" d="100"/>
          <a:sy n="118" d="100"/>
        </p:scale>
        <p:origin x="20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A8054-CC31-6F4F-A1C9-9BABBE44552A}" type="datetimeFigureOut">
              <a:rPr lang="en-DE" smtClean="0"/>
              <a:t>29.04.25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4C5D9-88CB-6942-A598-E18FA31A7B9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93298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52.42749, 13.35700, 48m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4C5D9-88CB-6942-A598-E18FA31A7B9C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38009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Wells’ time machine only goes through time, you need something that also goes through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4C5D9-88CB-6942-A598-E18FA31A7B9C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08915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4C5D9-88CB-6942-A598-E18FA31A7B9C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94837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err="1"/>
              <a:t>Vermessungspunkt</a:t>
            </a:r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/>
          </a:p>
          <a:p>
            <a:r>
              <a:rPr lang="en-GB" dirty="0"/>
              <a:t>https://</a:t>
            </a:r>
            <a:r>
              <a:rPr lang="en-GB" dirty="0" err="1"/>
              <a:t>de.wikipedia.org</a:t>
            </a:r>
            <a:r>
              <a:rPr lang="en-GB" dirty="0"/>
              <a:t>/wiki/</a:t>
            </a:r>
            <a:r>
              <a:rPr lang="en-GB" dirty="0" err="1"/>
              <a:t>Vermessungspunkt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4C5D9-88CB-6942-A598-E18FA31A7B9C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85947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Arial, Helvetica, sans-serif"/>
              </a:rPr>
              <a:t>G. </a:t>
            </a:r>
            <a:r>
              <a:rPr lang="en-GB" dirty="0" err="1">
                <a:latin typeface="Arial, Helvetica, sans-serif"/>
              </a:rPr>
              <a:t>Liebsch</a:t>
            </a:r>
            <a:r>
              <a:rPr lang="en-GB" dirty="0">
                <a:latin typeface="Arial, Helvetica, sans-serif"/>
              </a:rPr>
              <a:t>, U. Schirmer, J. </a:t>
            </a:r>
            <a:r>
              <a:rPr lang="en-GB" dirty="0" err="1">
                <a:latin typeface="Arial, Helvetica, sans-serif"/>
              </a:rPr>
              <a:t>Ihde</a:t>
            </a:r>
            <a:r>
              <a:rPr lang="en-GB" dirty="0">
                <a:latin typeface="Arial, Helvetica, sans-serif"/>
              </a:rPr>
              <a:t>, H. </a:t>
            </a:r>
            <a:r>
              <a:rPr lang="en-GB" dirty="0" err="1">
                <a:latin typeface="Arial, Helvetica, sans-serif"/>
              </a:rPr>
              <a:t>Denker</a:t>
            </a:r>
            <a:r>
              <a:rPr lang="en-GB" dirty="0">
                <a:latin typeface="Arial, Helvetica, sans-serif"/>
              </a:rPr>
              <a:t>, J. Müller (2006). </a:t>
            </a:r>
            <a:r>
              <a:rPr lang="en-GB" dirty="0" err="1">
                <a:latin typeface="Arial, Helvetica, sans-serif"/>
              </a:rPr>
              <a:t>Quasigeoidbestimmung</a:t>
            </a:r>
            <a:r>
              <a:rPr lang="en-GB" dirty="0">
                <a:latin typeface="Arial, Helvetica, sans-serif"/>
              </a:rPr>
              <a:t> für Deutschland. </a:t>
            </a:r>
            <a:r>
              <a:rPr lang="en-GB" dirty="0" err="1">
                <a:latin typeface="Arial, Helvetica, sans-serif"/>
              </a:rPr>
              <a:t>Deutscher</a:t>
            </a:r>
            <a:r>
              <a:rPr lang="en-GB" dirty="0">
                <a:latin typeface="Arial, Helvetica, sans-serif"/>
              </a:rPr>
              <a:t> Verein für </a:t>
            </a:r>
            <a:r>
              <a:rPr lang="en-GB" dirty="0" err="1">
                <a:latin typeface="Arial, Helvetica, sans-serif"/>
              </a:rPr>
              <a:t>Vermessungswesen</a:t>
            </a:r>
            <a:r>
              <a:rPr lang="en-GB" dirty="0">
                <a:latin typeface="Arial, Helvetica, sans-serif"/>
              </a:rPr>
              <a:t> - </a:t>
            </a:r>
            <a:r>
              <a:rPr lang="en-GB" dirty="0" err="1">
                <a:latin typeface="Arial, Helvetica, sans-serif"/>
              </a:rPr>
              <a:t>Schriftenreihe</a:t>
            </a:r>
            <a:r>
              <a:rPr lang="en-GB" dirty="0">
                <a:latin typeface="Arial, Helvetica, sans-serif"/>
              </a:rPr>
              <a:t>, 49, pp. 127-146. </a:t>
            </a:r>
            <a:br>
              <a:rPr lang="en-GB" dirty="0">
                <a:latin typeface="Arial, Helvetica, sans-serif"/>
              </a:rPr>
            </a:br>
            <a:r>
              <a:rPr lang="en-GB" dirty="0">
                <a:latin typeface="Arial, Helvetica, sans-serif"/>
              </a:rPr>
              <a:t>J. Schwabe, G. </a:t>
            </a:r>
            <a:r>
              <a:rPr lang="en-GB" dirty="0" err="1">
                <a:latin typeface="Arial, Helvetica, sans-serif"/>
              </a:rPr>
              <a:t>Liebsch</a:t>
            </a:r>
            <a:r>
              <a:rPr lang="en-GB" dirty="0">
                <a:latin typeface="Arial, Helvetica, sans-serif"/>
              </a:rPr>
              <a:t>, U. Schirmer (2016). Refined computation strategies for the new German Combined </a:t>
            </a:r>
            <a:r>
              <a:rPr lang="en-GB" dirty="0" err="1">
                <a:latin typeface="Arial, Helvetica, sans-serif"/>
              </a:rPr>
              <a:t>Quasigeoid</a:t>
            </a:r>
            <a:r>
              <a:rPr lang="en-GB" dirty="0">
                <a:latin typeface="Arial, Helvetica, sans-serif"/>
              </a:rPr>
              <a:t> GCG2016. Symposium on Geoid, Gravity and Height Systems (GGHS2016). 19-23 September 2016, Thessaloniki, Greece. </a:t>
            </a:r>
            <a:br>
              <a:rPr lang="en-GB" dirty="0">
                <a:latin typeface="Arial, Helvetica, sans-serif"/>
              </a:rPr>
            </a:b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4C5D9-88CB-6942-A598-E18FA31A7B9C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67305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So most people will use relative elevation above a local geoid. </a:t>
            </a:r>
            <a:r>
              <a:rPr lang="en-GB" dirty="0"/>
              <a:t>W</a:t>
            </a:r>
            <a:r>
              <a:rPr lang="en-DE" dirty="0"/>
              <a:t>hich is effectively sea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4C5D9-88CB-6942-A598-E18FA31A7B9C}" type="slidenum">
              <a:rPr lang="en-DE" smtClean="0"/>
              <a:t>17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4373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3412B-1222-E444-3562-DAE6F13BE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CA802-1014-7F64-DE67-FB373813E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1EA71-4D62-22A8-E96B-DFA002D7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ED05-3DF8-E94B-B411-9B23A5077B65}" type="datetimeFigureOut">
              <a:rPr lang="en-DE" smtClean="0"/>
              <a:t>29.04.25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231E0-8FAE-4C1C-B803-F0232074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43DD8-6051-B673-504F-FB10FED10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E4D4-3050-5442-BBEC-F9BDD2C71E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3851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E98E4-37B2-1609-AF53-704BBA40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02357-6C0C-C2EE-0EA2-8F4F4AFC4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1AD6D-6EE9-2F1E-F2EC-B41FD2B35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ED05-3DF8-E94B-B411-9B23A5077B65}" type="datetimeFigureOut">
              <a:rPr lang="en-DE" smtClean="0"/>
              <a:t>29.04.25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8E339-1926-4BDD-9357-EE158AD10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0C98A-4ACF-D796-A9EA-E0DD090B3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E4D4-3050-5442-BBEC-F9BDD2C71E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27731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DA363-D331-BA1A-6BEA-3A8FB8164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03618-49FA-7BFC-2623-1150709F1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E9A3F-A781-58BA-0461-0BA38A97C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ED05-3DF8-E94B-B411-9B23A5077B65}" type="datetimeFigureOut">
              <a:rPr lang="en-DE" smtClean="0"/>
              <a:t>29.04.25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B5B88-4093-8A4E-88BF-FA3B3CD07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6776C-91B3-128F-DBE8-08007697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E4D4-3050-5442-BBEC-F9BDD2C71E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7745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88F7B-089E-45FA-78C5-153559F5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AF14E-D4BC-B81F-F19F-66558C7360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4551B-3175-49BA-5583-D8EB99D16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51AFB-3169-A697-0D44-352CAA6D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ED05-3DF8-E94B-B411-9B23A5077B65}" type="datetimeFigureOut">
              <a:rPr lang="en-DE" smtClean="0"/>
              <a:t>29.04.25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2C6DE-EA37-057A-D63A-55C7B951F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334C5-41DD-1F7D-844E-E49503395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E4D4-3050-5442-BBEC-F9BDD2C71E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61238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32D1-F858-1D22-50D1-EFD8B9ABC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84DE9-B2C2-AC9C-5B85-9F811BFD6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99573-34AC-99B3-FDF3-6BA3B7891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D74FA4-4116-AD40-21CB-2B8A94374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9B91F5-717A-89D4-8BC2-4672778135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2EA5D-A1A5-23BC-F6B3-FC09A7CBA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ED05-3DF8-E94B-B411-9B23A5077B65}" type="datetimeFigureOut">
              <a:rPr lang="en-DE" smtClean="0"/>
              <a:t>29.04.25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A6752E-5117-E314-86F2-C3990EF83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A5AB0A-ED97-D79C-5129-6EDCBFA30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E4D4-3050-5442-BBEC-F9BDD2C71E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46225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EE7A4-53C2-F3B2-F677-64974225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86E48-FD29-C759-B01A-19AA3F8EF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ED05-3DF8-E94B-B411-9B23A5077B65}" type="datetimeFigureOut">
              <a:rPr lang="en-DE" smtClean="0"/>
              <a:t>29.04.25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C4433-8D8F-28C0-CA76-20BD78436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2DAC8-7F4E-1EAC-9F3C-47C7E8F72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E4D4-3050-5442-BBEC-F9BDD2C71E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934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F9C255-E2F7-4483-FBFC-1E46CFDB4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ED05-3DF8-E94B-B411-9B23A5077B65}" type="datetimeFigureOut">
              <a:rPr lang="en-DE" smtClean="0"/>
              <a:t>29.04.25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298362-6382-8F17-95B6-E829E524B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84084-37DF-B0C7-3463-1B35BFDC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E4D4-3050-5442-BBEC-F9BDD2C71E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5149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9B34-A45A-771E-AA23-CFCD0C01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576F3-DAE9-EB2C-0103-1BEFFFCC1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CBB8F-9573-7497-2B59-702DDAE9F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9CB43-CADA-B93F-038C-B7ED76B5F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ED05-3DF8-E94B-B411-9B23A5077B65}" type="datetimeFigureOut">
              <a:rPr lang="en-DE" smtClean="0"/>
              <a:t>29.04.25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0F1DD-C91C-C43C-F16C-1C4B18D96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FFB15-9B06-4524-ECF3-E3A09F9CE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E4D4-3050-5442-BBEC-F9BDD2C71E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002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8ADE-9168-24FD-E283-E8067B1FE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5A7CB1-C19C-75D5-2912-87516B209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6BE97-3D45-B2CF-9AC3-07080CE14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AA7C8-D4DE-6CDC-2BDC-56427927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ED05-3DF8-E94B-B411-9B23A5077B65}" type="datetimeFigureOut">
              <a:rPr lang="en-DE" smtClean="0"/>
              <a:t>29.04.25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92DFA-12F6-C9D9-3E37-C9A5CA60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60211-17F6-8170-853A-1184A65D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E4D4-3050-5442-BBEC-F9BDD2C71E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25427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5871B-4AF6-FD0F-56B7-04D2BD378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9C686-A15A-5414-9F7F-96F3A3371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0F962-2C8A-3F04-BA34-D3A624D30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ED05-3DF8-E94B-B411-9B23A5077B65}" type="datetimeFigureOut">
              <a:rPr lang="en-DE" smtClean="0"/>
              <a:t>29.04.25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4F0E5-ABBF-96F0-C5B2-C5536F439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5640D-5F01-6A0F-0DE2-601E2C41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E4D4-3050-5442-BBEC-F9BDD2C71E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23307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AA1BA6-31BF-B83B-199A-D08492D30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F38A79-2D73-D07E-8551-CAE10DE8B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5C3D7-1F8C-7DCD-F246-B0008203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CED05-3DF8-E94B-B411-9B23A5077B65}" type="datetimeFigureOut">
              <a:rPr lang="en-DE" smtClean="0"/>
              <a:t>29.04.25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97C47-E198-6FF7-C212-A62A958E9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1DC2C-4F7A-C8B1-3100-D4710355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E4D4-3050-5442-BBEC-F9BDD2C71E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3921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C71C03-39CA-A78E-31BC-21208C23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ABCBF-C0FF-0E98-34D2-1E73FE01C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0E4EF-2486-542D-A9CD-A5FD43700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CED05-3DF8-E94B-B411-9B23A5077B65}" type="datetimeFigureOut">
              <a:rPr lang="en-DE" smtClean="0"/>
              <a:t>29.04.25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060A8-714D-83B2-CC84-FBAD37065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28EB-E18A-6D45-1CEB-9F60534E6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BE4D4-3050-5442-BBEC-F9BDD2C71E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4958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GM96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WGS84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281F-AACB-FF73-0027-F3A86ACB8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8982" y="-164885"/>
            <a:ext cx="5394036" cy="1461655"/>
          </a:xfrm>
        </p:spPr>
        <p:txBody>
          <a:bodyPr>
            <a:normAutofit fontScale="90000"/>
          </a:bodyPr>
          <a:lstStyle/>
          <a:p>
            <a:r>
              <a:rPr lang="en-DE" dirty="0"/>
              <a:t>Geologic methods</a:t>
            </a:r>
          </a:p>
        </p:txBody>
      </p:sp>
      <p:pic>
        <p:nvPicPr>
          <p:cNvPr id="1026" name="Picture 2" descr="Surveyor Images - Free Download on Freepik">
            <a:extLst>
              <a:ext uri="{FF2B5EF4-FFF2-40B4-BE49-F238E27FC236}">
                <a16:creationId xmlns:a16="http://schemas.microsoft.com/office/drawing/2014/main" id="{365F54CE-8CFE-C99D-FA75-C329D39F3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36" y="1315531"/>
            <a:ext cx="4918364" cy="491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2.1 Datums and Coordinates – Lost Without It">
            <a:extLst>
              <a:ext uri="{FF2B5EF4-FFF2-40B4-BE49-F238E27FC236}">
                <a16:creationId xmlns:a16="http://schemas.microsoft.com/office/drawing/2014/main" id="{F6ED1649-5EE1-5182-8F10-392E95F05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854" y="2997862"/>
            <a:ext cx="5781964" cy="367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A7588CE-540A-35BE-9534-D91E69942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7854" y="1970737"/>
            <a:ext cx="6580910" cy="1655762"/>
          </a:xfrm>
        </p:spPr>
        <p:txBody>
          <a:bodyPr/>
          <a:lstStyle/>
          <a:p>
            <a:r>
              <a:rPr lang="en-DE" dirty="0"/>
              <a:t>Summer Semester 2025</a:t>
            </a:r>
          </a:p>
          <a:p>
            <a:r>
              <a:rPr lang="en-DE" dirty="0"/>
              <a:t>Dr Hannah Sophia Davies</a:t>
            </a:r>
          </a:p>
          <a:p>
            <a:r>
              <a:rPr lang="en-DE" dirty="0"/>
              <a:t>h.davies@fu-berlin.de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C4C2EBD-8950-F323-B124-122319A7FF41}"/>
              </a:ext>
            </a:extLst>
          </p:cNvPr>
          <p:cNvSpPr txBox="1"/>
          <p:nvPr/>
        </p:nvSpPr>
        <p:spPr>
          <a:xfrm>
            <a:off x="180831" y="128774"/>
            <a:ext cx="2317115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35280">
              <a:lnSpc>
                <a:spcPct val="115999"/>
              </a:lnSpc>
            </a:pP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D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epa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r</a:t>
            </a:r>
            <a:r>
              <a:rPr sz="1000" b="1" spc="5" dirty="0">
                <a:solidFill>
                  <a:srgbClr val="5F5F5F"/>
                </a:solidFill>
                <a:latin typeface="Arial"/>
                <a:cs typeface="Arial"/>
              </a:rPr>
              <a:t>t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m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en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t 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of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a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r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t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h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 S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cience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s 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Ins</a:t>
            </a:r>
            <a:r>
              <a:rPr sz="1000" b="1" spc="5" dirty="0">
                <a:solidFill>
                  <a:srgbClr val="5F5F5F"/>
                </a:solidFill>
                <a:latin typeface="Arial"/>
                <a:cs typeface="Arial"/>
              </a:rPr>
              <a:t>t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i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t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u</a:t>
            </a:r>
            <a:r>
              <a:rPr sz="1000" b="1" spc="5" dirty="0">
                <a:solidFill>
                  <a:srgbClr val="5F5F5F"/>
                </a:solidFill>
                <a:latin typeface="Arial"/>
                <a:cs typeface="Arial"/>
              </a:rPr>
              <a:t>t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e</a:t>
            </a:r>
            <a:r>
              <a:rPr sz="1000" b="1" spc="-15" dirty="0">
                <a:solidFill>
                  <a:srgbClr val="5F5F5F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fo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r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 </a:t>
            </a:r>
            <a:r>
              <a:rPr sz="1000" b="1" spc="-15" dirty="0">
                <a:solidFill>
                  <a:srgbClr val="5F5F5F"/>
                </a:solidFill>
                <a:latin typeface="Arial"/>
                <a:cs typeface="Arial"/>
              </a:rPr>
              <a:t>G</a:t>
            </a:r>
            <a:r>
              <a:rPr sz="1000" b="1" spc="-20" dirty="0">
                <a:solidFill>
                  <a:srgbClr val="5F5F5F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ologi</a:t>
            </a:r>
            <a:r>
              <a:rPr sz="1000" b="1" spc="-20" dirty="0">
                <a:solidFill>
                  <a:srgbClr val="5F5F5F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a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l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S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cience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s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AG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 T</a:t>
            </a:r>
            <a:r>
              <a:rPr sz="1000" b="1" spc="-20" dirty="0">
                <a:solidFill>
                  <a:srgbClr val="5F5F5F"/>
                </a:solidFill>
                <a:latin typeface="Arial"/>
                <a:cs typeface="Arial"/>
              </a:rPr>
              <a:t>e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c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t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onic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s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&amp;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 S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edi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m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en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t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a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r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y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S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ys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t</a:t>
            </a:r>
            <a:r>
              <a:rPr sz="1000" b="1" spc="-10" dirty="0">
                <a:solidFill>
                  <a:srgbClr val="5F5F5F"/>
                </a:solidFill>
                <a:latin typeface="Arial"/>
                <a:cs typeface="Arial"/>
              </a:rPr>
              <a:t>e</a:t>
            </a:r>
            <a:r>
              <a:rPr sz="1000" b="1" spc="-5" dirty="0">
                <a:solidFill>
                  <a:srgbClr val="5F5F5F"/>
                </a:solidFill>
                <a:latin typeface="Arial"/>
                <a:cs typeface="Arial"/>
              </a:rPr>
              <a:t>m</a:t>
            </a:r>
            <a:r>
              <a:rPr sz="1000" b="1" dirty="0">
                <a:solidFill>
                  <a:srgbClr val="5F5F5F"/>
                </a:solidFill>
                <a:latin typeface="Arial"/>
                <a:cs typeface="Arial"/>
              </a:rPr>
              <a:t>s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119A5D0-64B9-A2BF-C7A2-F2727A2129AA}"/>
              </a:ext>
            </a:extLst>
          </p:cNvPr>
          <p:cNvSpPr/>
          <p:nvPr/>
        </p:nvSpPr>
        <p:spPr>
          <a:xfrm>
            <a:off x="9854334" y="56068"/>
            <a:ext cx="2138362" cy="566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460A91-FE58-97AA-C0A6-AB5EDEDA4E60}"/>
              </a:ext>
            </a:extLst>
          </p:cNvPr>
          <p:cNvSpPr txBox="1"/>
          <p:nvPr/>
        </p:nvSpPr>
        <p:spPr>
          <a:xfrm>
            <a:off x="6023362" y="1319498"/>
            <a:ext cx="2614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/>
              <a:t>Intro to Geodesy</a:t>
            </a:r>
          </a:p>
        </p:txBody>
      </p:sp>
    </p:spTree>
    <p:extLst>
      <p:ext uri="{BB962C8B-B14F-4D97-AF65-F5344CB8AC3E}">
        <p14:creationId xmlns:p14="http://schemas.microsoft.com/office/powerpoint/2010/main" val="19961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D57B9-EC66-0807-12ED-B1CA02A7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Couplet teaching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3DB45F-6AED-1606-7129-AA7BCE134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rmAutofit/>
          </a:bodyPr>
          <a:lstStyle/>
          <a:p>
            <a:r>
              <a:rPr lang="en-DE" sz="3600" dirty="0"/>
              <a:t>Group 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008E4C-4ED8-68E9-4CA2-2E8449BFA5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DE" dirty="0"/>
              <a:t>Labs Wednesday mornings </a:t>
            </a:r>
          </a:p>
          <a:p>
            <a:pPr marL="0" indent="0">
              <a:buNone/>
            </a:pPr>
            <a:r>
              <a:rPr lang="en-DE" dirty="0"/>
              <a:t>10:00 – 12:00 (T Building)</a:t>
            </a:r>
          </a:p>
          <a:p>
            <a:endParaRPr lang="en-DE" dirty="0"/>
          </a:p>
          <a:p>
            <a:r>
              <a:rPr lang="en-DE" dirty="0"/>
              <a:t>GIS Wednesday mornings</a:t>
            </a:r>
          </a:p>
          <a:p>
            <a:pPr marL="0" indent="0">
              <a:buNone/>
            </a:pPr>
            <a:r>
              <a:rPr lang="en-DE" dirty="0"/>
              <a:t>10:00 – 12:00 (B032)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DE" dirty="0"/>
              <a:t>Alternate Labs and GIS each week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BFAAD10-60B8-DA4A-075D-EF43E7C37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>
            <a:normAutofit/>
          </a:bodyPr>
          <a:lstStyle/>
          <a:p>
            <a:r>
              <a:rPr lang="en-DE" sz="3600" dirty="0"/>
              <a:t>Group B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60CBBD-E8B5-025D-4016-6446A66D057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dirty="0"/>
              <a:t>Labs Wednesday mornings </a:t>
            </a:r>
          </a:p>
          <a:p>
            <a:pPr marL="0" indent="0">
              <a:buNone/>
            </a:pPr>
            <a:r>
              <a:rPr lang="en-DE" dirty="0"/>
              <a:t>10:00 – 12:00 (T Building) </a:t>
            </a:r>
          </a:p>
          <a:p>
            <a:pPr marL="0" indent="0">
              <a:buNone/>
            </a:pPr>
            <a:endParaRPr lang="en-DE" dirty="0"/>
          </a:p>
          <a:p>
            <a:r>
              <a:rPr lang="en-DE" dirty="0"/>
              <a:t>GIS Wednesday </a:t>
            </a:r>
            <a:r>
              <a:rPr lang="en-DE" u="sng" dirty="0"/>
              <a:t>afternoons</a:t>
            </a:r>
          </a:p>
          <a:p>
            <a:pPr marL="0" indent="0">
              <a:buNone/>
            </a:pPr>
            <a:r>
              <a:rPr lang="en-DE" dirty="0"/>
              <a:t>12:00 – 14:00 (</a:t>
            </a:r>
            <a:r>
              <a:rPr lang="en-DE" u="sng" dirty="0"/>
              <a:t>G107</a:t>
            </a:r>
            <a:r>
              <a:rPr lang="en-DE" dirty="0"/>
              <a:t>)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DE" dirty="0"/>
              <a:t>Alternate Labs and GIS each week</a:t>
            </a:r>
          </a:p>
          <a:p>
            <a:endParaRPr lang="en-DE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88678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FF3F-5BB8-2AE3-3499-A5BA43CB5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Where are you right now?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B0683-481D-2326-7CD1-4BF9F8E13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What is your latitude and longitude?</a:t>
            </a:r>
          </a:p>
          <a:p>
            <a:r>
              <a:rPr lang="en-DE" dirty="0"/>
              <a:t>What datum is that? – phones (Google maps) use WGS 84 </a:t>
            </a:r>
          </a:p>
          <a:p>
            <a:r>
              <a:rPr lang="en-DE" dirty="0"/>
              <a:t>What elevation are you?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5A1205-F650-E3E2-6B44-F194AEE270F2}"/>
              </a:ext>
            </a:extLst>
          </p:cNvPr>
          <p:cNvSpPr txBox="1"/>
          <p:nvPr/>
        </p:nvSpPr>
        <p:spPr>
          <a:xfrm rot="1388665">
            <a:off x="7560622" y="1265446"/>
            <a:ext cx="371980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/>
              <a:t>You’ve heard of Alex’s </a:t>
            </a:r>
          </a:p>
          <a:p>
            <a:r>
              <a:rPr lang="en-DE" sz="2400" dirty="0"/>
              <a:t>“Was ist das?”</a:t>
            </a:r>
          </a:p>
          <a:p>
            <a:r>
              <a:rPr lang="en-DE" sz="2400" dirty="0"/>
              <a:t>Now get ready for Hannah’s </a:t>
            </a:r>
          </a:p>
          <a:p>
            <a:r>
              <a:rPr lang="en-DE" sz="2400" dirty="0"/>
              <a:t>“Wo ist das?”</a:t>
            </a:r>
          </a:p>
        </p:txBody>
      </p:sp>
    </p:spTree>
    <p:extLst>
      <p:ext uri="{BB962C8B-B14F-4D97-AF65-F5344CB8AC3E}">
        <p14:creationId xmlns:p14="http://schemas.microsoft.com/office/powerpoint/2010/main" val="275251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14EC78-0EAA-2B6E-2947-E3BC5D838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Precision of WGS84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AE01E1-8013-A32C-66D3-15E16E4A4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790" y="1690688"/>
            <a:ext cx="10776419" cy="3577771"/>
          </a:xfr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6EFFD78-70A5-9096-D308-7E0F9BD2109B}"/>
              </a:ext>
            </a:extLst>
          </p:cNvPr>
          <p:cNvSpPr/>
          <p:nvPr/>
        </p:nvSpPr>
        <p:spPr>
          <a:xfrm>
            <a:off x="4299857" y="2579914"/>
            <a:ext cx="794657" cy="2830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4779FF-4411-EE1B-AAAF-816C26A72C15}"/>
              </a:ext>
            </a:extLst>
          </p:cNvPr>
          <p:cNvSpPr/>
          <p:nvPr/>
        </p:nvSpPr>
        <p:spPr>
          <a:xfrm>
            <a:off x="7358743" y="2895603"/>
            <a:ext cx="794657" cy="2830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D8742C-E5E7-7178-5825-69EE3C6BC5E3}"/>
              </a:ext>
            </a:extLst>
          </p:cNvPr>
          <p:cNvSpPr txBox="1"/>
          <p:nvPr/>
        </p:nvSpPr>
        <p:spPr>
          <a:xfrm>
            <a:off x="1629136" y="5620875"/>
            <a:ext cx="9148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/>
              <a:t>One minute of latitude (or longitude) </a:t>
            </a:r>
            <a:r>
              <a:rPr lang="en-DE" sz="2400" u="sng" dirty="0"/>
              <a:t>at the equator</a:t>
            </a:r>
            <a:r>
              <a:rPr lang="en-DE" sz="2400" dirty="0"/>
              <a:t> is one nautical mile</a:t>
            </a:r>
          </a:p>
        </p:txBody>
      </p:sp>
    </p:spTree>
    <p:extLst>
      <p:ext uri="{BB962C8B-B14F-4D97-AF65-F5344CB8AC3E}">
        <p14:creationId xmlns:p14="http://schemas.microsoft.com/office/powerpoint/2010/main" val="32912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6ABC1-5FED-F338-A9A0-66E410CD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Precision of WGS84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09F724-FE54-13D2-B9E4-34A8C9EB0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0766" r="51980"/>
          <a:stretch/>
        </p:blipFill>
        <p:spPr>
          <a:xfrm>
            <a:off x="2215243" y="3103003"/>
            <a:ext cx="7761513" cy="348064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566FE6-5486-3F04-7F9B-CA26314289C6}"/>
              </a:ext>
            </a:extLst>
          </p:cNvPr>
          <p:cNvSpPr txBox="1"/>
          <p:nvPr/>
        </p:nvSpPr>
        <p:spPr>
          <a:xfrm>
            <a:off x="489858" y="1317899"/>
            <a:ext cx="1073331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000" dirty="0"/>
              <a:t>Precision of Longitude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precision of longitudes is dependent on the latitude : the higher the latitude, the closer the meridians are to each other.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value in meters is to be multiplied by the cosine of the latitude (except along the equator). So, for example, in Germany (50 ° N) the meridians are about 2/3 as large as on the equator and the accuracy is correspondingly higher. </a:t>
            </a:r>
            <a:endParaRPr lang="en-DE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CC6147-241D-93C7-E2CF-9E31DD2A39F7}"/>
              </a:ext>
            </a:extLst>
          </p:cNvPr>
          <p:cNvSpPr/>
          <p:nvPr/>
        </p:nvSpPr>
        <p:spPr>
          <a:xfrm>
            <a:off x="5709556" y="3918857"/>
            <a:ext cx="952501" cy="2830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3714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DD51ED-DC1A-32EE-D28F-2ECD4284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239"/>
            <a:ext cx="10515600" cy="483961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http://</a:t>
            </a:r>
            <a:r>
              <a:rPr lang="en-GB" sz="3600" dirty="0" err="1"/>
              <a:t>www.csgnetwork.com</a:t>
            </a:r>
            <a:r>
              <a:rPr lang="en-GB" sz="3600" dirty="0"/>
              <a:t>/</a:t>
            </a:r>
            <a:r>
              <a:rPr lang="en-GB" sz="3600" dirty="0" err="1"/>
              <a:t>degreelenllavcalc.html</a:t>
            </a:r>
            <a:endParaRPr lang="en-DE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B3FEBD-DC91-90B5-53EF-1DC03105D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79802"/>
            <a:ext cx="5704114" cy="4932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6A577C-A4C8-3476-66BB-37EB8AE98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924" y="1679802"/>
            <a:ext cx="5715086" cy="49328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805B82-711E-0C57-1F15-FCC24580E55F}"/>
              </a:ext>
            </a:extLst>
          </p:cNvPr>
          <p:cNvSpPr txBox="1"/>
          <p:nvPr/>
        </p:nvSpPr>
        <p:spPr>
          <a:xfrm>
            <a:off x="2331606" y="1095027"/>
            <a:ext cx="1498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3200" dirty="0"/>
              <a:t>Equator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A45A11-9852-5ADA-9DA5-ECC9522DF719}"/>
              </a:ext>
            </a:extLst>
          </p:cNvPr>
          <p:cNvSpPr txBox="1"/>
          <p:nvPr/>
        </p:nvSpPr>
        <p:spPr>
          <a:xfrm>
            <a:off x="8781157" y="1095027"/>
            <a:ext cx="9026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3200" dirty="0"/>
              <a:t>Pole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6121FC-F531-0B66-5C54-D98D05E3E852}"/>
              </a:ext>
            </a:extLst>
          </p:cNvPr>
          <p:cNvCxnSpPr/>
          <p:nvPr/>
        </p:nvCxnSpPr>
        <p:spPr>
          <a:xfrm>
            <a:off x="3156857" y="3907971"/>
            <a:ext cx="67285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CC044D-58D2-66DA-43B0-400DC149006F}"/>
              </a:ext>
            </a:extLst>
          </p:cNvPr>
          <p:cNvCxnSpPr/>
          <p:nvPr/>
        </p:nvCxnSpPr>
        <p:spPr>
          <a:xfrm>
            <a:off x="3178625" y="5334004"/>
            <a:ext cx="67285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73C97E-8336-529A-7BA0-377F8185E636}"/>
              </a:ext>
            </a:extLst>
          </p:cNvPr>
          <p:cNvCxnSpPr/>
          <p:nvPr/>
        </p:nvCxnSpPr>
        <p:spPr>
          <a:xfrm>
            <a:off x="9325582" y="3962399"/>
            <a:ext cx="67285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4FDD42-FC9D-858C-9F40-510E4CA39124}"/>
              </a:ext>
            </a:extLst>
          </p:cNvPr>
          <p:cNvCxnSpPr/>
          <p:nvPr/>
        </p:nvCxnSpPr>
        <p:spPr>
          <a:xfrm>
            <a:off x="9347350" y="5388432"/>
            <a:ext cx="67285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F0BA7BF-5E78-38A7-72ED-E01F4435F3B4}"/>
              </a:ext>
            </a:extLst>
          </p:cNvPr>
          <p:cNvSpPr txBox="1"/>
          <p:nvPr/>
        </p:nvSpPr>
        <p:spPr>
          <a:xfrm>
            <a:off x="4828906" y="1095027"/>
            <a:ext cx="2953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40075 km/360° = 111.319 km</a:t>
            </a:r>
          </a:p>
        </p:txBody>
      </p:sp>
    </p:spTree>
    <p:extLst>
      <p:ext uri="{BB962C8B-B14F-4D97-AF65-F5344CB8AC3E}">
        <p14:creationId xmlns:p14="http://schemas.microsoft.com/office/powerpoint/2010/main" val="421070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TARDIS – Wikipedia">
            <a:extLst>
              <a:ext uri="{FF2B5EF4-FFF2-40B4-BE49-F238E27FC236}">
                <a16:creationId xmlns:a16="http://schemas.microsoft.com/office/drawing/2014/main" id="{317E1DAE-FE06-D11C-C5B7-5DEBD316A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0032" y="0"/>
            <a:ext cx="514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95FE19-63F3-357C-2AE9-F0E8AB236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60714"/>
            <a:ext cx="67437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66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65E0-1538-4520-D1B3-B81B63ED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When on a planet latitude and longitude makes sense to use for positioning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B4B96-9D7C-B38E-682D-8B8EA2C9B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DE" dirty="0"/>
              <a:t>Latitude = angle from equator</a:t>
            </a:r>
          </a:p>
          <a:p>
            <a:r>
              <a:rPr lang="en-DE" dirty="0"/>
              <a:t>Longitude = angle relative to abitrary “0°” </a:t>
            </a:r>
            <a:r>
              <a:rPr lang="en-DE" u="sng" dirty="0"/>
              <a:t>prime meridian or Greenwich meridian</a:t>
            </a:r>
          </a:p>
          <a:p>
            <a:endParaRPr lang="en-DE" dirty="0"/>
          </a:p>
          <a:p>
            <a:r>
              <a:rPr lang="en-DE" dirty="0"/>
              <a:t>Lats and longs are in base 60. There is 360° in a circle</a:t>
            </a:r>
          </a:p>
          <a:p>
            <a:r>
              <a:rPr lang="en-DE" dirty="0"/>
              <a:t>Divisions of lats and longs are </a:t>
            </a:r>
            <a:r>
              <a:rPr lang="en-DE" b="1" dirty="0"/>
              <a:t>minutes and seconds</a:t>
            </a:r>
            <a:r>
              <a:rPr lang="en-DE" dirty="0"/>
              <a:t> of arc – also base 60</a:t>
            </a:r>
          </a:p>
          <a:p>
            <a:r>
              <a:rPr lang="en-DE" dirty="0"/>
              <a:t>53° 13’ = 53 degrees and 13 minutes</a:t>
            </a:r>
          </a:p>
          <a:p>
            <a:r>
              <a:rPr lang="en-DE" dirty="0"/>
              <a:t>13/60 = 0.2166 so in Decimal degrees </a:t>
            </a:r>
            <a:r>
              <a:rPr lang="en-GB" dirty="0"/>
              <a:t>it would be 53.2166°</a:t>
            </a:r>
          </a:p>
        </p:txBody>
      </p:sp>
    </p:spTree>
    <p:extLst>
      <p:ext uri="{BB962C8B-B14F-4D97-AF65-F5344CB8AC3E}">
        <p14:creationId xmlns:p14="http://schemas.microsoft.com/office/powerpoint/2010/main" val="357469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creen Clipping">
            <a:extLst>
              <a:ext uri="{FF2B5EF4-FFF2-40B4-BE49-F238E27FC236}">
                <a16:creationId xmlns:a16="http://schemas.microsoft.com/office/drawing/2014/main" id="{0CCF3500-470A-BC26-8FE5-0EF6345B6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81" y="140167"/>
            <a:ext cx="6105237" cy="6577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2DAB5D-71B1-D291-F332-1DCA4FA2EAC6}"/>
              </a:ext>
            </a:extLst>
          </p:cNvPr>
          <p:cNvSpPr txBox="1"/>
          <p:nvPr/>
        </p:nvSpPr>
        <p:spPr>
          <a:xfrm>
            <a:off x="6640945" y="140167"/>
            <a:ext cx="530167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600" dirty="0"/>
              <a:t>Assuming the wrong datum (Terrestrial reference system) can have consequences!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F32F16-BC69-7CCD-B607-D0775929DC65}"/>
              </a:ext>
            </a:extLst>
          </p:cNvPr>
          <p:cNvSpPr txBox="1"/>
          <p:nvPr/>
        </p:nvSpPr>
        <p:spPr>
          <a:xfrm>
            <a:off x="6640946" y="2120988"/>
            <a:ext cx="53016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dirty="0"/>
              <a:t>Different datums – which is correct?</a:t>
            </a:r>
          </a:p>
          <a:p>
            <a:endParaRPr lang="en-DE" sz="2400" dirty="0"/>
          </a:p>
          <a:p>
            <a:r>
              <a:rPr lang="en-DE" sz="2400" dirty="0"/>
              <a:t>T</a:t>
            </a:r>
            <a:r>
              <a:rPr lang="en-GB" sz="2400" dirty="0"/>
              <a:t>h</a:t>
            </a:r>
            <a:r>
              <a:rPr lang="en-DE" sz="2400" dirty="0"/>
              <a:t>is gets more complicated when there are multiple datasets/data layers</a:t>
            </a:r>
          </a:p>
          <a:p>
            <a:endParaRPr lang="en-DE" sz="2400" dirty="0"/>
          </a:p>
          <a:p>
            <a:r>
              <a:rPr lang="en-DE" sz="2400" dirty="0"/>
              <a:t>Be careful about datums!</a:t>
            </a:r>
          </a:p>
          <a:p>
            <a:endParaRPr lang="en-DE" sz="2400" dirty="0"/>
          </a:p>
          <a:p>
            <a:r>
              <a:rPr lang="en-DE" sz="2400" dirty="0"/>
              <a:t>Especially if it is a field of </a:t>
            </a:r>
            <a:r>
              <a:rPr lang="en-DE" sz="2400" u="sng" dirty="0"/>
              <a:t>landmines</a:t>
            </a:r>
          </a:p>
          <a:p>
            <a:endParaRPr lang="en-DE" sz="2400" dirty="0"/>
          </a:p>
          <a:p>
            <a:r>
              <a:rPr lang="en-DE" sz="2400" dirty="0"/>
              <a:t>Why are these two datums so different?</a:t>
            </a:r>
          </a:p>
        </p:txBody>
      </p:sp>
    </p:spTree>
    <p:extLst>
      <p:ext uri="{BB962C8B-B14F-4D97-AF65-F5344CB8AC3E}">
        <p14:creationId xmlns:p14="http://schemas.microsoft.com/office/powerpoint/2010/main" val="3026666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thinking Error Estimations in Geospatial Data: The Correct Way to  Determine Product Accuracy - LIDAR Magazine">
            <a:extLst>
              <a:ext uri="{FF2B5EF4-FFF2-40B4-BE49-F238E27FC236}">
                <a16:creationId xmlns:a16="http://schemas.microsoft.com/office/drawing/2014/main" id="{770B35E2-EF53-F672-5886-D69A0DB54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793" y="0"/>
            <a:ext cx="7872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B916009-927E-DD18-1815-BCFAB47836A0}"/>
              </a:ext>
            </a:extLst>
          </p:cNvPr>
          <p:cNvCxnSpPr/>
          <p:nvPr/>
        </p:nvCxnSpPr>
        <p:spPr>
          <a:xfrm>
            <a:off x="7205157" y="1071418"/>
            <a:ext cx="748145" cy="36945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9C90D0-956C-FA03-C3FF-6982AD8A16BB}"/>
              </a:ext>
            </a:extLst>
          </p:cNvPr>
          <p:cNvCxnSpPr/>
          <p:nvPr/>
        </p:nvCxnSpPr>
        <p:spPr>
          <a:xfrm>
            <a:off x="7158973" y="3068781"/>
            <a:ext cx="748145" cy="36945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B265059-C1E7-30B2-593A-2292300D3235}"/>
              </a:ext>
            </a:extLst>
          </p:cNvPr>
          <p:cNvCxnSpPr/>
          <p:nvPr/>
        </p:nvCxnSpPr>
        <p:spPr>
          <a:xfrm>
            <a:off x="7191305" y="4946076"/>
            <a:ext cx="748145" cy="36945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E942380-003D-EEE0-BE2E-9F54A6AB089B}"/>
              </a:ext>
            </a:extLst>
          </p:cNvPr>
          <p:cNvSpPr/>
          <p:nvPr/>
        </p:nvSpPr>
        <p:spPr>
          <a:xfrm>
            <a:off x="1810327" y="2586182"/>
            <a:ext cx="8414328" cy="24476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600745-7862-F1FD-CFBE-45D999C77280}"/>
              </a:ext>
            </a:extLst>
          </p:cNvPr>
          <p:cNvSpPr txBox="1"/>
          <p:nvPr/>
        </p:nvSpPr>
        <p:spPr>
          <a:xfrm>
            <a:off x="168689" y="3145088"/>
            <a:ext cx="16416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Best approximation</a:t>
            </a:r>
          </a:p>
          <a:p>
            <a:r>
              <a:rPr lang="en-DE" dirty="0"/>
              <a:t>(of the whole globe)</a:t>
            </a:r>
          </a:p>
        </p:txBody>
      </p:sp>
    </p:spTree>
    <p:extLst>
      <p:ext uri="{BB962C8B-B14F-4D97-AF65-F5344CB8AC3E}">
        <p14:creationId xmlns:p14="http://schemas.microsoft.com/office/powerpoint/2010/main" val="333477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5BD60-4945-EFE4-CA13-5E365ED0C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WGS 84 is the ellipsoid that best fits the geiod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6B503-3789-F1C0-1BA5-1670B70E4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5291" cy="4351338"/>
          </a:xfrm>
        </p:spPr>
        <p:txBody>
          <a:bodyPr>
            <a:normAutofit fontScale="92500" lnSpcReduction="10000"/>
          </a:bodyPr>
          <a:lstStyle/>
          <a:p>
            <a:r>
              <a:rPr lang="en-DE" dirty="0"/>
              <a:t>It is not the first! </a:t>
            </a:r>
          </a:p>
          <a:p>
            <a:r>
              <a:rPr lang="en-DE" dirty="0"/>
              <a:t>It is not perfect!</a:t>
            </a:r>
          </a:p>
          <a:p>
            <a:r>
              <a:rPr lang="en-DE" dirty="0"/>
              <a:t>It is the best if you want to do global mapping (or don’t have a regional datum at hand)</a:t>
            </a:r>
          </a:p>
          <a:p>
            <a:r>
              <a:rPr lang="en-GB" dirty="0"/>
              <a:t>G</a:t>
            </a:r>
            <a:r>
              <a:rPr lang="en-DE" dirty="0"/>
              <a:t>enerally for Europe you will be above the WGS 84 ellipsoid</a:t>
            </a:r>
          </a:p>
          <a:p>
            <a:r>
              <a:rPr lang="en-DE" i="1" dirty="0"/>
              <a:t>It doesn’t matter if you are wrong, as long as you are consistenly wrong and know how wrong you are.</a:t>
            </a:r>
          </a:p>
          <a:p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9406F-47A8-107D-C958-ED8E43DD5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311" y="2004291"/>
            <a:ext cx="6399419" cy="40362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38B7C8-F634-6171-B3B1-12F1AE3177F2}"/>
              </a:ext>
            </a:extLst>
          </p:cNvPr>
          <p:cNvSpPr txBox="1"/>
          <p:nvPr/>
        </p:nvSpPr>
        <p:spPr>
          <a:xfrm>
            <a:off x="5887274" y="6040582"/>
            <a:ext cx="5763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Map of the undulation of the geoid in meters (based on the </a:t>
            </a:r>
            <a:r>
              <a:rPr lang="en-GB" dirty="0">
                <a:hlinkClick r:id="rId3" tooltip="EGM96"/>
              </a:rPr>
              <a:t>EGM96</a:t>
            </a:r>
            <a:r>
              <a:rPr lang="en-GB" dirty="0"/>
              <a:t> gravity model and the </a:t>
            </a:r>
            <a:r>
              <a:rPr lang="en-GB" dirty="0">
                <a:hlinkClick r:id="rId4" tooltip="WGS84"/>
              </a:rPr>
              <a:t>WGS84</a:t>
            </a:r>
            <a:r>
              <a:rPr lang="en-GB" dirty="0"/>
              <a:t> reference ellipsoid).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30401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51A4D-A2CA-1878-1D97-A8AF53295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Geoid and Ellipsoid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EEC11-81E7-A2DB-AE55-E76D29A9B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877"/>
            <a:ext cx="10515600" cy="1093066"/>
          </a:xfrm>
        </p:spPr>
        <p:txBody>
          <a:bodyPr/>
          <a:lstStyle/>
          <a:p>
            <a:pPr marL="0" indent="0">
              <a:buNone/>
            </a:pPr>
            <a:r>
              <a:rPr lang="en-DE" dirty="0"/>
              <a:t>If you want to be more precise you should use a regionally best fitting ellipsoid that has a good fit in a specific place.</a:t>
            </a:r>
          </a:p>
        </p:txBody>
      </p:sp>
      <p:pic>
        <p:nvPicPr>
          <p:cNvPr id="8194" name="Picture 2" descr="Screen Clipping">
            <a:extLst>
              <a:ext uri="{FF2B5EF4-FFF2-40B4-BE49-F238E27FC236}">
                <a16:creationId xmlns:a16="http://schemas.microsoft.com/office/drawing/2014/main" id="{AC1EC8AD-11AF-3A06-549E-FF6B4E1A2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563" y="2260600"/>
            <a:ext cx="8839200" cy="459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117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F459D1-38FF-E401-486E-33D25A868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291" y="2155371"/>
            <a:ext cx="8336479" cy="4702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20C51C-48FF-90D4-3F54-075BBA642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How positions change based on Datum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1EB98-72E8-77EE-5FC1-CFE002FB4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7648"/>
          </a:xfrm>
        </p:spPr>
        <p:txBody>
          <a:bodyPr/>
          <a:lstStyle/>
          <a:p>
            <a:pPr marL="0" indent="0">
              <a:buNone/>
            </a:pPr>
            <a:r>
              <a:rPr lang="en-DE" dirty="0"/>
              <a:t>The same latitude and longitude can put you in different locations for different datums</a:t>
            </a:r>
          </a:p>
        </p:txBody>
      </p:sp>
    </p:spTree>
    <p:extLst>
      <p:ext uri="{BB962C8B-B14F-4D97-AF65-F5344CB8AC3E}">
        <p14:creationId xmlns:p14="http://schemas.microsoft.com/office/powerpoint/2010/main" val="3743520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F3A934-9DE9-A0B8-307E-0471922E6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6167664" cy="2852737"/>
          </a:xfrm>
        </p:spPr>
        <p:txBody>
          <a:bodyPr/>
          <a:lstStyle/>
          <a:p>
            <a:r>
              <a:rPr lang="en-DE" dirty="0"/>
              <a:t>What about elevation?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F59C6-09D4-DF65-2142-B03141743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11266" name="Picture 2" descr="r/germany - Does anyone know what these are? ">
            <a:extLst>
              <a:ext uri="{FF2B5EF4-FFF2-40B4-BE49-F238E27FC236}">
                <a16:creationId xmlns:a16="http://schemas.microsoft.com/office/drawing/2014/main" id="{22D1E253-8456-5684-44A2-6D86FC0A1E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49" b="27460"/>
          <a:stretch/>
        </p:blipFill>
        <p:spPr bwMode="auto">
          <a:xfrm>
            <a:off x="5408386" y="134156"/>
            <a:ext cx="6419850" cy="6589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083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74BBA-C146-E0D0-BFD8-6FE1134F3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What about elevation?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82796-C0EB-FACD-4A69-96D56EE90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5429" cy="4351338"/>
          </a:xfrm>
        </p:spPr>
        <p:txBody>
          <a:bodyPr/>
          <a:lstStyle/>
          <a:p>
            <a:r>
              <a:rPr lang="en-DE" dirty="0"/>
              <a:t>The OG way to do it</a:t>
            </a:r>
          </a:p>
          <a:p>
            <a:r>
              <a:rPr lang="en-DE" dirty="0"/>
              <a:t>Use a surveying staff and a </a:t>
            </a:r>
            <a:r>
              <a:rPr lang="en-DE" u="sng" dirty="0"/>
              <a:t>Theodolite</a:t>
            </a:r>
          </a:p>
          <a:p>
            <a:r>
              <a:rPr lang="en-DE" dirty="0"/>
              <a:t>Go stepwise up or down measuring vertical distance each time</a:t>
            </a:r>
          </a:p>
          <a:p>
            <a:r>
              <a:rPr lang="en-GB" dirty="0"/>
              <a:t>This gives you an elevation above the reference point for all points measured</a:t>
            </a:r>
            <a:endParaRPr lang="en-DE" dirty="0"/>
          </a:p>
        </p:txBody>
      </p:sp>
      <p:pic>
        <p:nvPicPr>
          <p:cNvPr id="4" name="Picture 4" descr="2.1 Datums and Coordinates – Lost Without It">
            <a:extLst>
              <a:ext uri="{FF2B5EF4-FFF2-40B4-BE49-F238E27FC236}">
                <a16:creationId xmlns:a16="http://schemas.microsoft.com/office/drawing/2014/main" id="{D05B411B-079D-E74E-1640-E22235E69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805" y="2141537"/>
            <a:ext cx="684529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650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2D3D-7145-0E46-C191-6ADA5CAC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GCG2016 German geoid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96FBF-692E-44C0-9056-231EEEF65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12290" name="Picture 2" descr="Austria">
            <a:extLst>
              <a:ext uri="{FF2B5EF4-FFF2-40B4-BE49-F238E27FC236}">
                <a16:creationId xmlns:a16="http://schemas.microsoft.com/office/drawing/2014/main" id="{4BE5688A-8F01-CE00-16E7-36E572CB5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753" y="1057900"/>
            <a:ext cx="6628493" cy="5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500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7D03-8F65-215A-ED5C-9ABA9F61D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Sometimes the ellipsoid is way off…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2D83CC-D526-268A-AD77-BF9121F193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43501" y="1574592"/>
            <a:ext cx="7704997" cy="5027141"/>
          </a:xfrm>
        </p:spPr>
      </p:pic>
    </p:spTree>
    <p:extLst>
      <p:ext uri="{BB962C8B-B14F-4D97-AF65-F5344CB8AC3E}">
        <p14:creationId xmlns:p14="http://schemas.microsoft.com/office/powerpoint/2010/main" val="2912021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43265-95E2-94EF-C63B-D44CC5D8B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08A93-90D7-C83C-6F42-41EC38DB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DE" dirty="0"/>
              <a:t>Always check your datum! – We use An ellipsoid Earth to try to account for its oblate spheroid shape</a:t>
            </a:r>
          </a:p>
          <a:p>
            <a:r>
              <a:rPr lang="en-DE" dirty="0"/>
              <a:t> Regional datums may be more precise</a:t>
            </a:r>
          </a:p>
          <a:p>
            <a:r>
              <a:rPr lang="en-DE" dirty="0"/>
              <a:t>You will always have to account for local geoid to calculate your true elevation</a:t>
            </a:r>
          </a:p>
          <a:p>
            <a:r>
              <a:rPr lang="en-GB" dirty="0"/>
              <a:t>R</a:t>
            </a:r>
            <a:r>
              <a:rPr lang="en-DE" dirty="0"/>
              <a:t>emember that a lot of spherical calculations rely on base 60 calculations </a:t>
            </a:r>
          </a:p>
        </p:txBody>
      </p:sp>
      <p:pic>
        <p:nvPicPr>
          <p:cNvPr id="4" name="Picture 2" descr="Rethinking Error Estimations in Geospatial Data: The Correct Way to  Determine Product Accuracy - LIDAR Magazine">
            <a:extLst>
              <a:ext uri="{FF2B5EF4-FFF2-40B4-BE49-F238E27FC236}">
                <a16:creationId xmlns:a16="http://schemas.microsoft.com/office/drawing/2014/main" id="{18F2BD45-81BB-0AE9-54A1-D432A8FEB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51" b="31111"/>
          <a:stretch/>
        </p:blipFill>
        <p:spPr bwMode="auto">
          <a:xfrm>
            <a:off x="3727336" y="162491"/>
            <a:ext cx="7872413" cy="1730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creen Clipping">
            <a:extLst>
              <a:ext uri="{FF2B5EF4-FFF2-40B4-BE49-F238E27FC236}">
                <a16:creationId xmlns:a16="http://schemas.microsoft.com/office/drawing/2014/main" id="{5678C42F-8C65-9761-6274-345DEBCC9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124" y="4648200"/>
            <a:ext cx="4248676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147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E6180-1DD3-78FD-C443-75AAAB5F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4AECF-1D59-2537-17B6-C08D6C0FB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First GIS session</a:t>
            </a:r>
          </a:p>
          <a:p>
            <a:endParaRPr lang="en-DE" dirty="0"/>
          </a:p>
          <a:p>
            <a:r>
              <a:rPr lang="en-DE" dirty="0"/>
              <a:t>Using python and jupyter notebooks to plot and understand geospatial data</a:t>
            </a:r>
          </a:p>
          <a:p>
            <a:endParaRPr lang="en-DE" dirty="0"/>
          </a:p>
          <a:p>
            <a:r>
              <a:rPr lang="en-DE" dirty="0"/>
              <a:t>Remember your group!</a:t>
            </a:r>
          </a:p>
        </p:txBody>
      </p:sp>
    </p:spTree>
    <p:extLst>
      <p:ext uri="{BB962C8B-B14F-4D97-AF65-F5344CB8AC3E}">
        <p14:creationId xmlns:p14="http://schemas.microsoft.com/office/powerpoint/2010/main" val="3913499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826</Words>
  <Application>Microsoft Macintosh PowerPoint</Application>
  <PresentationFormat>Widescreen</PresentationFormat>
  <Paragraphs>105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Arial, Helvetica, sans-serif</vt:lpstr>
      <vt:lpstr>Calibri</vt:lpstr>
      <vt:lpstr>Calibri Light</vt:lpstr>
      <vt:lpstr>Office Theme</vt:lpstr>
      <vt:lpstr>Geologic methods</vt:lpstr>
      <vt:lpstr>Couplet teaching</vt:lpstr>
      <vt:lpstr>Where are you right now?</vt:lpstr>
      <vt:lpstr>Precision of WGS84 </vt:lpstr>
      <vt:lpstr>Precision of WGS84</vt:lpstr>
      <vt:lpstr>http://www.csgnetwork.com/degreelenllavcalc.html</vt:lpstr>
      <vt:lpstr>PowerPoint Presentation</vt:lpstr>
      <vt:lpstr>When on a planet latitude and longitude makes sense to use for positioning </vt:lpstr>
      <vt:lpstr>PowerPoint Presentation</vt:lpstr>
      <vt:lpstr>PowerPoint Presentation</vt:lpstr>
      <vt:lpstr>WGS 84 is the ellipsoid that best fits the geiod</vt:lpstr>
      <vt:lpstr>Geoid and Ellipsoid</vt:lpstr>
      <vt:lpstr>How positions change based on Datum</vt:lpstr>
      <vt:lpstr>What about elevation?</vt:lpstr>
      <vt:lpstr>What about elevation?</vt:lpstr>
      <vt:lpstr>GCG2016 German geoid model</vt:lpstr>
      <vt:lpstr>Sometimes the ellipsoid is way off…</vt:lpstr>
      <vt:lpstr>Summary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Geologic methods</dc:title>
  <dc:creator>Microsoft Office User</dc:creator>
  <cp:lastModifiedBy>Microsoft Office User</cp:lastModifiedBy>
  <cp:revision>9</cp:revision>
  <dcterms:created xsi:type="dcterms:W3CDTF">2025-04-29T10:14:52Z</dcterms:created>
  <dcterms:modified xsi:type="dcterms:W3CDTF">2025-04-30T07:37:00Z</dcterms:modified>
</cp:coreProperties>
</file>